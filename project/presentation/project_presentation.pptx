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b3f42dfe-0b08-2d4b-e8b3-7626cd3d9bc7}">
          <p14:sldIdLst>
            <p14:sldId id="256"/>
            <p14:sldId id="257"/>
          </p14:sldIdLst>
        </p14:section>
        <p14:section name="Данные" id="{f684f525-1156-5954-b3dd-766886616fbf}">
          <p14:sldIdLst>
            <p14:sldId id="258"/>
          </p14:sldIdLst>
        </p14:section>
        <p14:section name="Разведочный анализ" id="{e3c247be-7de3-ea55-d47a-2a7012523878}">
          <p14:sldIdLst>
            <p14:sldId id="259"/>
            <p14:sldId id="260"/>
          </p14:sldIdLst>
        </p14:section>
        <p14:section name="Модели" id="{c838789b-52b7-21eb-e332-2477a2de57a1}">
          <p14:sldIdLst>
            <p14:sldId id="261"/>
            <p14:sldId id="262"/>
            <p14:sldId id="263"/>
            <p14:sldId id="264"/>
          </p14:sldIdLst>
        </p14:section>
        <p14:section name="Итоги" id="{c766cf2f-f6ab-dcd8-a541-a1fef245e81b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32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1F2328"/>
                </a:solidFill>
                <a:latin typeface="+mj-lt"/>
              </a:rPr>
              <a:t>Баланс классов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Сессий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 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2514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Нет покупки</c:v>
                  </c:pt>
                  <c:pt idx="1">
                    <c:v>Покупка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10422</c:v>
                </c:pt>
                <c:pt idx="1">
                  <c:v>1908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b="0" i="0" strike="noStrike" sz="1000" u="none">
                  <a:solidFill>
                    <a:srgbClr val="52514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5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328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F2328"/>
                </a:solidFill>
                <a:latin typeface="+mj-lt"/>
              </a:rPr>
              <a:t>ROC-AUC на CV: как подготовка влияет на модели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Логистическая регрессия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2514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A: как есть</c:v>
                  </c:pt>
                  <c:pt idx="1">
                    <c:v>B: one-hot</c:v>
                  </c:pt>
                  <c:pt idx="2">
                    <c:v>C: + log1p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0.8925</c:v>
                </c:pt>
                <c:pt idx="1">
                  <c:v>0.8943</c:v>
                </c:pt>
                <c:pt idx="2">
                  <c:v>0.9157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kNN (k = 25)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2514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A: как есть</c:v>
                  </c:pt>
                  <c:pt idx="1">
                    <c:v>B: one-hot</c:v>
                  </c:pt>
                  <c:pt idx="2">
                    <c:v>C: + log1p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0.806</c:v>
                </c:pt>
                <c:pt idx="1">
                  <c:v>0.8573</c:v>
                </c:pt>
                <c:pt idx="2">
                  <c:v>0.9125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00" u="none">
                  <a:solidFill>
                    <a:srgbClr val="52514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7"/>
        </c:scaling>
        <c:delete val="0"/>
        <c:axPos val="l"/>
        <c:majorGridlines>
          <c:spPr>
            <a:ln w="6350" cap="flat">
              <a:solidFill>
                <a:srgbClr val="EBEA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2514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Логистическая регрессия + SMOTE</c:v>
                  </c:pt>
                  <c:pt idx="1">
                    <c:v>Логистическая регрессия</c:v>
                  </c:pt>
                  <c:pt idx="2">
                    <c:v>kNN</c:v>
                  </c:pt>
                  <c:pt idx="3">
                    <c:v>Решающее дерево</c:v>
                  </c:pt>
                  <c:pt idx="4">
                    <c:v>SVM (RBF)</c:v>
                  </c:pt>
                  <c:pt idx="5">
                    <c:v>Случайный лес</c:v>
                  </c:pt>
                  <c:pt idx="6">
                    <c:v>CatBoost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0.648</c:v>
                </c:pt>
                <c:pt idx="1">
                  <c:v>0.667</c:v>
                </c:pt>
                <c:pt idx="2">
                  <c:v>0.689</c:v>
                </c:pt>
                <c:pt idx="3">
                  <c:v>0.699</c:v>
                </c:pt>
                <c:pt idx="4">
                  <c:v>0.705</c:v>
                </c:pt>
                <c:pt idx="5">
                  <c:v>0.728</c:v>
                </c:pt>
                <c:pt idx="6">
                  <c:v>0.745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2514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Логистическая регрессия + SMOTE</c:v>
                  </c:pt>
                  <c:pt idx="1">
                    <c:v>Логистическая регрессия</c:v>
                  </c:pt>
                  <c:pt idx="2">
                    <c:v>kNN</c:v>
                  </c:pt>
                  <c:pt idx="3">
                    <c:v>Решающее дерево</c:v>
                  </c:pt>
                  <c:pt idx="4">
                    <c:v>SVM (RBF)</c:v>
                  </c:pt>
                  <c:pt idx="5">
                    <c:v>Случайный лес</c:v>
                  </c:pt>
                  <c:pt idx="6">
                    <c:v>CatBoost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0.908</c:v>
                </c:pt>
                <c:pt idx="1">
                  <c:v>0.912</c:v>
                </c:pt>
                <c:pt idx="2">
                  <c:v>0.904</c:v>
                </c:pt>
                <c:pt idx="3">
                  <c:v>0.922</c:v>
                </c:pt>
                <c:pt idx="4">
                  <c:v>0.901</c:v>
                </c:pt>
                <c:pt idx="5">
                  <c:v>0.918</c:v>
                </c:pt>
                <c:pt idx="6">
                  <c:v>0.928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00" u="none">
                  <a:solidFill>
                    <a:srgbClr val="52514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32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Тема: по данным Google Analytics о сессии предсказать, закончится ли она покупкой. Работа выполнена по CRISP-DM; один датасет во всех лабораторных и в дашборде.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Датасет взят с зеркала GitHub, соответствие оригиналу UCI проверено по размеру и числу покупок. Классы несбалансированы, поэтому accuracy не годится как основная метрика.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этапе EDA фиксирую только наблюдаемое, без выводов о причинах — это требование курса.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 encoding кодов навязал бы несуществующий порядок; проверка на кросс-валидации показала, что one-hot + log1p + масштабирование дают kNN прирост с 0,806 до 0,912 ROC-AUC.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Сравнивались kNN, логистическая регрессия (с весами классов и со SMOTE), решающее дерево, случайный лес, SVM и CatBoost; Dummy-модель как базовый уровень.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D36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DE2FB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A66"/>
                </a:solidFill>
              </a:rPr>
              <a:t>Подольский Ф. · ПМИ ФМИ ПГНИУ · Разведочный анализ и алгоритмы классификации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Прогноз покупки по сессии интернет-магазина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DE2FB"/>
                </a:solidFill>
              </a:rPr>
              <a:t>Итоговый проект по дисциплине «Разведочный анализ и алгоритмы классификации»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DE2FB"/>
                </a:solidFill>
              </a:rPr>
              <a:t>Подольский Филипп · магистратура ПМИ, ФМИ ПГНИУ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DE2FB"/>
                </a:solidFill>
              </a:rPr>
              <a:t>Датасет: UCI Online Shoppers Purchasing Intention ·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и задачи</a:t>
            </a:r>
            <a:endParaRPr lang="en-US" sz="2800" dirty="0"/>
          </a:p>
        </p:txBody>
      </p:sp>
      <p:sp>
        <p:nvSpPr>
          <p:cNvPr id="3" name="goal-card"/>
          <p:cNvSpPr/>
          <p:nvPr/>
        </p:nvSpPr>
        <p:spPr>
          <a:xfrm>
            <a:off x="457200" y="1097280"/>
            <a:ext cx="3291840" cy="347472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Цель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Отличать сессии, которые закончатся покупкой, от остальных, объяснить, на чём основан прогноз, и дать к результатам интерактивный доступ.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49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</a:rPr>
              <a:t>Бинарная классификация Revenue: 1 — покупка, 0 — нет</a:t>
            </a:r>
            <a:endParaRPr lang="en-US" sz="1200" dirty="0"/>
          </a:p>
        </p:txBody>
      </p:sp>
      <p:sp>
        <p:nvSpPr>
          <p:cNvPr id="7" name="step-0"/>
          <p:cNvSpPr/>
          <p:nvPr/>
        </p:nvSpPr>
        <p:spPr>
          <a:xfrm>
            <a:off x="4114800" y="1143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07899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Разведочный анализ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общее исследование, однофакторный анализ, пары факторов</a:t>
            </a:r>
            <a:endParaRPr lang="en-US" sz="1500" dirty="0"/>
          </a:p>
        </p:txBody>
      </p:sp>
      <p:sp>
        <p:nvSpPr>
          <p:cNvPr id="10" name="step-1"/>
          <p:cNvSpPr/>
          <p:nvPr/>
        </p:nvSpPr>
        <p:spPr>
          <a:xfrm>
            <a:off x="4114800" y="18470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78308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Подготовка признаков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one-hot, log1p, масштабирование, разбиение</a:t>
            </a:r>
            <a:endParaRPr lang="en-US" sz="1500" dirty="0"/>
          </a:p>
        </p:txBody>
      </p:sp>
      <p:sp>
        <p:nvSpPr>
          <p:cNvPr id="13" name="step-2"/>
          <p:cNvSpPr/>
          <p:nvPr/>
        </p:nvSpPr>
        <p:spPr>
          <a:xfrm>
            <a:off x="4114800" y="25511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48716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Модели классификации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8 вариантов, кросс-валидация, выбор порога</a:t>
            </a:r>
            <a:endParaRPr lang="en-US" sz="1500" dirty="0"/>
          </a:p>
        </p:txBody>
      </p:sp>
      <p:sp>
        <p:nvSpPr>
          <p:cNvPr id="16" name="step-3"/>
          <p:cNvSpPr/>
          <p:nvPr/>
        </p:nvSpPr>
        <p:spPr>
          <a:xfrm>
            <a:off x="4114800" y="32552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19125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Интерпретация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словами о качестве, SHAP, отдельные прогнозы</a:t>
            </a:r>
            <a:endParaRPr lang="en-US" sz="1500" dirty="0"/>
          </a:p>
        </p:txBody>
      </p:sp>
      <p:sp>
        <p:nvSpPr>
          <p:cNvPr id="19" name="step-4"/>
          <p:cNvSpPr/>
          <p:nvPr/>
        </p:nvSpPr>
        <p:spPr>
          <a:xfrm>
            <a:off x="4114800" y="39593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389534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Развёртывание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дашборд в Docker, запуск одной командой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 и их качество</a:t>
            </a:r>
            <a:endParaRPr lang="en-US" sz="2800" dirty="0"/>
          </a:p>
        </p:txBody>
      </p:sp>
      <p:sp>
        <p:nvSpPr>
          <p:cNvPr id="3" name="st1-card"/>
          <p:cNvSpPr/>
          <p:nvPr/>
        </p:nvSpPr>
        <p:spPr>
          <a:xfrm>
            <a:off x="45720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1-value"/>
          <p:cNvSpPr txBox="1"/>
          <p:nvPr/>
        </p:nvSpPr>
        <p:spPr>
          <a:xfrm>
            <a:off x="594360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12 330</a:t>
            </a:r>
            <a:endParaRPr lang="en-US" sz="3000" dirty="0"/>
          </a:p>
        </p:txBody>
      </p:sp>
      <p:sp>
        <p:nvSpPr>
          <p:cNvPr id="5" name="st1-label"/>
          <p:cNvSpPr txBox="1"/>
          <p:nvPr/>
        </p:nvSpPr>
        <p:spPr>
          <a:xfrm>
            <a:off x="594360" y="1737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</a:rPr>
              <a:t>сессий (строк)</a:t>
            </a:r>
            <a:endParaRPr lang="en-US" sz="1100" dirty="0"/>
          </a:p>
        </p:txBody>
      </p:sp>
      <p:sp>
        <p:nvSpPr>
          <p:cNvPr id="6" name="st2-card"/>
          <p:cNvSpPr/>
          <p:nvPr/>
        </p:nvSpPr>
        <p:spPr>
          <a:xfrm>
            <a:off x="256032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2-value"/>
          <p:cNvSpPr txBox="1"/>
          <p:nvPr/>
        </p:nvSpPr>
        <p:spPr>
          <a:xfrm>
            <a:off x="2697480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8" name="st2-label"/>
          <p:cNvSpPr txBox="1"/>
          <p:nvPr/>
        </p:nvSpPr>
        <p:spPr>
          <a:xfrm>
            <a:off x="2697480" y="1737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</a:rPr>
              <a:t>признаков + Revenue</a:t>
            </a:r>
            <a:endParaRPr lang="en-US" sz="1100" dirty="0"/>
          </a:p>
        </p:txBody>
      </p:sp>
      <p:sp>
        <p:nvSpPr>
          <p:cNvPr id="9" name="st3-card"/>
          <p:cNvSpPr/>
          <p:nvPr/>
        </p:nvSpPr>
        <p:spPr>
          <a:xfrm>
            <a:off x="466344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3-value"/>
          <p:cNvSpPr txBox="1"/>
          <p:nvPr/>
        </p:nvSpPr>
        <p:spPr>
          <a:xfrm>
            <a:off x="4800600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15,5 %</a:t>
            </a:r>
            <a:endParaRPr lang="en-US" sz="3000" dirty="0"/>
          </a:p>
        </p:txBody>
      </p:sp>
      <p:sp>
        <p:nvSpPr>
          <p:cNvPr id="11" name="st3-label"/>
          <p:cNvSpPr txBox="1"/>
          <p:nvPr/>
        </p:nvSpPr>
        <p:spPr>
          <a:xfrm>
            <a:off x="4800600" y="1737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</a:rPr>
              <a:t>сессий с покупкой</a:t>
            </a:r>
            <a:endParaRPr lang="en-US" sz="1100" dirty="0"/>
          </a:p>
        </p:txBody>
      </p:sp>
      <p:sp>
        <p:nvSpPr>
          <p:cNvPr id="12" name="st4-card"/>
          <p:cNvSpPr/>
          <p:nvPr/>
        </p:nvSpPr>
        <p:spPr>
          <a:xfrm>
            <a:off x="6766560" y="109728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4-value"/>
          <p:cNvSpPr txBox="1"/>
          <p:nvPr/>
        </p:nvSpPr>
        <p:spPr>
          <a:xfrm>
            <a:off x="6903720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st4-label"/>
          <p:cNvSpPr txBox="1"/>
          <p:nvPr/>
        </p:nvSpPr>
        <p:spPr>
          <a:xfrm>
            <a:off x="6903720" y="1737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</a:rPr>
              <a:t>пропусков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37744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10 числовых: счётчики страниц и время на них, метрики Google Analytics (BounceRates, ExitRates, PageValues), SpecialDay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OperatingSystems, Browser, Region, TrafficType — целые коды без порядка, т. е. номинальные признаки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Счётчики и длительности сильно скошены, много нулей; 125 полных дубликатов — одностраничные сессии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В данных 10 месяцев: нет января и апреля</a:t>
            </a:r>
            <a:endParaRPr lang="en-US" sz="1300" dirty="0"/>
          </a:p>
        </p:txBody>
      </p:sp>
      <p:graphicFrame>
        <p:nvGraphicFramePr>
          <p:cNvPr id="16" name="balance-chart" descr=""/>
          <p:cNvGraphicFramePr/>
          <p:nvPr/>
        </p:nvGraphicFramePr>
        <p:xfrm>
          <a:off x="5760720" y="2331720"/>
          <a:ext cx="29260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Однофакторный анализ</a:t>
            </a:r>
            <a:endParaRPr lang="en-US" sz="2800" dirty="0"/>
          </a:p>
        </p:txBody>
      </p:sp>
      <p:pic>
        <p:nvPicPr>
          <p:cNvPr id="3" name="univariate-img" descr="Распределения PageValues и ExitRates по классам и доля покупок по месяца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20971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337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PageValues &gt; 0 у 80,6 % сессий с покупкой и у 11,4 % без неё; среди сессий с PageValues = 0 покупок 3,9 %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ExitRates в классе «покупка» ниже: медиана 0,016 против 0,029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Доля покупок по месяцам — от 1,6 % (февраль) до 25,4 % (ноябрь); по Region различий нет (χ², p = 0,32)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Корреляции и пары факторов</a:t>
            </a:r>
            <a:endParaRPr lang="en-US" sz="2800" dirty="0"/>
          </a:p>
        </p:txBody>
      </p:sp>
      <p:pic>
        <p:nvPicPr>
          <p:cNvPr id="3" name="pairs-img" descr="Согласованность признаков с Revenue и тепловая карта доли покупок PageValues × ExitRa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57" y="960120"/>
            <a:ext cx="7326086" cy="2514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Пирсон на скошенных данных вводит в заблуждение: «страницы — время» r = 0,60 при ρ Спирмена = 0,94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С Revenue сильнее всего согласован PageValues (φK = 0,41), затем ExitRates (0,32), Month, BounceRates, TrafficType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PageValues × ExitRates: доля покупок от 0–6 % (PageValues = 0) до 82 % (высокий PageValues, низкий ExitRates)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Подготовка признаков</a:t>
            </a:r>
            <a:endParaRPr lang="en-US" sz="2800" dirty="0"/>
          </a:p>
        </p:txBody>
      </p:sp>
      <p:graphicFrame>
        <p:nvGraphicFramePr>
          <p:cNvPr id="7" name="prep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480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Признаки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Преобразование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Month, VisitorType, коды ОС, браузера, региона, трафика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one-hot; категории реже 1 % → other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Счётчики, длительности, PageValues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log1p + стандартизация (kNN, ЛР, SVM); без изменений для деревьев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BounceRates, ExitRates, SpecialDay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стандартизация (SpecialDay — единственный порядковый признак)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Weekend, Revenue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 /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Выбросы и дубликаты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оставлены: реальные сессии, не ошибки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prep-chart" descr=""/>
          <p:cNvGraphicFramePr/>
          <p:nvPr/>
        </p:nvGraphicFramePr>
        <p:xfrm>
          <a:off x="5120640" y="1051560"/>
          <a:ext cx="3566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Сравнение моделей (тест)</a:t>
            </a:r>
            <a:endParaRPr lang="en-US" sz="2800" dirty="0"/>
          </a:p>
        </p:txBody>
      </p:sp>
      <p:graphicFrame>
        <p:nvGraphicFramePr>
          <p:cNvPr id="3" name="models-chart" descr=""/>
          <p:cNvGraphicFramePr/>
          <p:nvPr/>
        </p:nvGraphicFramePr>
        <p:xfrm>
          <a:off x="457200" y="1005840"/>
          <a:ext cx="53949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models-card"/>
          <p:cNvSpPr/>
          <p:nvPr/>
        </p:nvSpPr>
        <p:spPr>
          <a:xfrm>
            <a:off x="6126480" y="1051560"/>
            <a:ext cx="2560320" cy="35661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09360" y="1188720"/>
            <a:ext cx="2240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Финальная — CatBoost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Лидеры на CV — CatBoost и случайный лес: PR-AUC 0,741 и 0,748 при разбросе ±0,02, т. е. неразличимы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У CatBoost лучше ROC-AUC и калибровка; в финальной версии без весов классов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Веса классов и SMOTE PR-AUC не улучшили — дисбаланс учтён порогом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Качество финальной модели</a:t>
            </a:r>
            <a:endParaRPr lang="en-US" sz="2800" dirty="0"/>
          </a:p>
        </p:txBody>
      </p:sp>
      <p:sp>
        <p:nvSpPr>
          <p:cNvPr id="3" name="q1-card"/>
          <p:cNvSpPr/>
          <p:nvPr/>
        </p:nvSpPr>
        <p:spPr>
          <a:xfrm>
            <a:off x="457200" y="105156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1-value"/>
          <p:cNvSpPr txBox="1"/>
          <p:nvPr/>
        </p:nvSpPr>
        <p:spPr>
          <a:xfrm>
            <a:off x="594360" y="1143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0,929</a:t>
            </a:r>
            <a:endParaRPr lang="en-US" sz="3000" dirty="0"/>
          </a:p>
        </p:txBody>
      </p:sp>
      <p:sp>
        <p:nvSpPr>
          <p:cNvPr id="5" name="q1-label"/>
          <p:cNvSpPr txBox="1"/>
          <p:nvPr/>
        </p:nvSpPr>
        <p:spPr>
          <a:xfrm>
            <a:off x="594360" y="1691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</a:rPr>
              <a:t>ROC-AUC (0,5 — случайная)</a:t>
            </a:r>
            <a:endParaRPr lang="en-US" sz="1100" dirty="0"/>
          </a:p>
        </p:txBody>
      </p:sp>
      <p:sp>
        <p:nvSpPr>
          <p:cNvPr id="6" name="q2-card"/>
          <p:cNvSpPr/>
          <p:nvPr/>
        </p:nvSpPr>
        <p:spPr>
          <a:xfrm>
            <a:off x="2560320" y="105156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q2-value"/>
          <p:cNvSpPr txBox="1"/>
          <p:nvPr/>
        </p:nvSpPr>
        <p:spPr>
          <a:xfrm>
            <a:off x="2697480" y="1143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0,744</a:t>
            </a:r>
            <a:endParaRPr lang="en-US" sz="3000" dirty="0"/>
          </a:p>
        </p:txBody>
      </p:sp>
      <p:sp>
        <p:nvSpPr>
          <p:cNvPr id="8" name="q2-label"/>
          <p:cNvSpPr txBox="1"/>
          <p:nvPr/>
        </p:nvSpPr>
        <p:spPr>
          <a:xfrm>
            <a:off x="2697480" y="1691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</a:rPr>
              <a:t>PR-AUC (0,155 — случайная)</a:t>
            </a:r>
            <a:endParaRPr lang="en-US" sz="1100" dirty="0"/>
          </a:p>
        </p:txBody>
      </p:sp>
      <p:sp>
        <p:nvSpPr>
          <p:cNvPr id="9" name="q3-card"/>
          <p:cNvSpPr/>
          <p:nvPr/>
        </p:nvSpPr>
        <p:spPr>
          <a:xfrm>
            <a:off x="4663440" y="105156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q3-value"/>
          <p:cNvSpPr txBox="1"/>
          <p:nvPr/>
        </p:nvSpPr>
        <p:spPr>
          <a:xfrm>
            <a:off x="4800600" y="1143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75 %</a:t>
            </a:r>
            <a:endParaRPr lang="en-US" sz="3000" dirty="0"/>
          </a:p>
        </p:txBody>
      </p:sp>
      <p:sp>
        <p:nvSpPr>
          <p:cNvPr id="11" name="q3-label"/>
          <p:cNvSpPr txBox="1"/>
          <p:nvPr/>
        </p:nvSpPr>
        <p:spPr>
          <a:xfrm>
            <a:off x="4800600" y="1691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</a:rPr>
              <a:t>покупок найдено (recall)</a:t>
            </a:r>
            <a:endParaRPr lang="en-US" sz="1100" dirty="0"/>
          </a:p>
        </p:txBody>
      </p:sp>
      <p:sp>
        <p:nvSpPr>
          <p:cNvPr id="12" name="q4-card"/>
          <p:cNvSpPr/>
          <p:nvPr/>
        </p:nvSpPr>
        <p:spPr>
          <a:xfrm>
            <a:off x="6766560" y="105156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q4-value"/>
          <p:cNvSpPr txBox="1"/>
          <p:nvPr/>
        </p:nvSpPr>
        <p:spPr>
          <a:xfrm>
            <a:off x="6903720" y="1143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61 %</a:t>
            </a:r>
            <a:endParaRPr lang="en-US" sz="3000" dirty="0"/>
          </a:p>
        </p:txBody>
      </p:sp>
      <p:sp>
        <p:nvSpPr>
          <p:cNvPr id="14" name="q4-label"/>
          <p:cNvSpPr txBox="1"/>
          <p:nvPr/>
        </p:nvSpPr>
        <p:spPr>
          <a:xfrm>
            <a:off x="6903720" y="1691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</a:rPr>
              <a:t>верных среди отмеченных</a:t>
            </a:r>
            <a:endParaRPr lang="en-US" sz="1100" dirty="0"/>
          </a:p>
        </p:txBody>
      </p:sp>
      <p:graphicFrame>
        <p:nvGraphicFramePr>
          <p:cNvPr id="9" name="cm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3657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порог 0,27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прогноз: нет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прогноз: покупка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факт: нет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1904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180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факт: покупка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286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4572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</a:rPr>
              <a:t>Матрица ошибок на тестовой выборке (2 466 сессий)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389120" y="233172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Модель ранжирует сессии хорошо: в 93 случаях из 100 сессия с покупкой получает балл выше, чем сессия без покупки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Среди отмеченных моделью покупка встречается в 61 % случаев — в 4,0 раза чаще среднего: для таргетинга предложений это хорошо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Но 96 из 382 покупок пропущено — как «точный прогноз каждой покупки» модель недостаточна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чём основан прогноз</a:t>
            </a:r>
            <a:endParaRPr lang="en-US" sz="2800" dirty="0"/>
          </a:p>
        </p:txBody>
      </p:sp>
      <p:pic>
        <p:nvPicPr>
          <p:cNvPr id="3" name="shap-img" descr="SHAP: средний вклад признаков и распределение вкладов по сессия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711" y="960120"/>
            <a:ext cx="8154577" cy="2560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Главные признаки по SHAP: PageValues, Month, BounceRates, ExitRates, Administrative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Высокий PageValues сдвигает прогноз к покупке, высокий ExitRates и BounceRates — от неё; ноябрь повышает вероятность, март и май — понижают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Без PageValues качество падает: ROC-AUC 0,765, PR-AUC 0,355 — модель во многом опирается на метрику GA, связанную с историей транзакций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Дашборд в Docker и итоги</a:t>
            </a:r>
            <a:endParaRPr lang="en-US" sz="2800" dirty="0"/>
          </a:p>
        </p:txBody>
      </p:sp>
      <p:sp>
        <p:nvSpPr>
          <p:cNvPr id="3" name="deploy-card"/>
          <p:cNvSpPr/>
          <p:nvPr/>
        </p:nvSpPr>
        <p:spPr>
          <a:xfrm>
            <a:off x="457200" y="1051560"/>
            <a:ext cx="3931920" cy="3611880"/>
          </a:xfrm>
          <a:prstGeom prst="roundRect">
            <a:avLst>
              <a:gd name="adj" fmla="val 20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Запуск одной командой</a:t>
            </a:r>
            <a:endParaRPr lang="en-US" sz="1500" dirty="0"/>
          </a:p>
        </p:txBody>
      </p:sp>
      <p:sp>
        <p:nvSpPr>
          <p:cNvPr id="5" name="cmd-box"/>
          <p:cNvSpPr/>
          <p:nvPr/>
        </p:nvSpPr>
        <p:spPr>
          <a:xfrm>
            <a:off x="640080" y="1600200"/>
            <a:ext cx="3566160" cy="4572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→ http://localhost:9050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6032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О проекте: метрики и сравнение моделей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Разведочный анализ: признак, пара признаков, корреляции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Важность признаков, качество модели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Отдельные прогнозы, «что если», SHAP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Итоги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554480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Проведён EDA по схеме курса: общее исследование → однофакторный → пары факторов, без преждевременных выводов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Обоснована подготовка признаков: one-hot для номинальных, log1p и масштабирование там, где это нужно модели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Лучшая модель — CatBoost: ROC-AUC 0,929, PR-AUC 0,744; качество и прогнозы объяснены через SHAP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Ограничение: сильная зависимость от PageValues и нет данных за январь и апрель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ppers">
  <a:themeElements>
    <a:clrScheme name="Shoppers">
      <a:dk1>
        <a:srgbClr val="1F2328"/>
      </a:dk1>
      <a:lt1>
        <a:srgbClr val="FFFFFF"/>
      </a:lt1>
      <a:dk2>
        <a:srgbClr val="0D366B"/>
      </a:dk2>
      <a:lt2>
        <a:srgbClr val="F2F5F9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4A3AA7"/>
      </a:accent5>
      <a:accent6>
        <a:srgbClr val="E34948"/>
      </a:accent6>
      <a:hlink>
        <a:srgbClr val="2A78D6"/>
      </a:hlink>
      <a:folHlink>
        <a:srgbClr val="4A3AA7"/>
      </a:folHlink>
    </a:clrScheme>
    <a:fontScheme name="Shopp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Прогноз покупки по сессии интернет-магазина</dc:title>
  <dc:creator>Подольский Филипп</dc:creator>
  <cp:lastModifiedBy>Подольский Филипп</cp:lastModifiedBy>
  <cp:revision>1</cp:revision>
  <dcterms:created xsi:type="dcterms:W3CDTF">2026-10-08T19:12:46Z</dcterms:created>
  <dcterms:modified xsi:type="dcterms:W3CDTF">2026-10-08T19:12:46Z</dcterms:modified>
</cp:coreProperties>
</file>